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 i="0">
                <a:solidFill>
                  <a:srgbClr val="00A3E0"/>
                </a:solidFill>
                <a:latin typeface="Calibri"/>
              </a:rPr>
              <a:t>FINAL CAPSTONE PROJECT PRESENTATION</a:t>
            </a:r>
          </a:p>
          <a:p>
            <a:pPr>
              <a:spcAft>
                <a:spcPts val="1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Enterprise Distributed Banking &amp;
Financial Ledger Platform</a:t>
            </a:r>
          </a:p>
          <a:p>
            <a:r>
              <a:rPr sz="1400" b="0" i="1">
                <a:solidFill>
                  <a:srgbClr val="DCE6F2"/>
                </a:solidFill>
                <a:latin typeface="Calibri"/>
              </a:rPr>
              <a:t>High-Throughput Microservices, Transactional Outbox, Row-Level ACID Concurrency &amp; Immutable Double-Entry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548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 i="0">
                <a:solidFill>
                  <a:srgbClr val="BECDE1"/>
                </a:solidFill>
                <a:latin typeface="Calibri"/>
              </a:rPr>
              <a:t>Course: Distributed Systems &amp; Applications (CS-602 / DS-701)
Author: Vishal H.  |  Date: October 2026  |  GitHub: https://github.com/v-i-s-h-a-l-l/Banking-Application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E6B9E"/>
                </a:solidFill>
                <a:latin typeface="Calibri"/>
              </a:rPr>
              <a:t>DISTRIBUTED SYSTEMS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365D"/>
                </a:solidFill>
                <a:latin typeface="Calibri"/>
              </a:rPr>
              <a:t>7. System Workflow (Distributed Systems Implementation)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2E6B9E"/>
          </a:solidFill>
          <a:ln>
            <a:solidFill>
              <a:srgbClr val="2E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1B365D"/>
                </a:solidFill>
                <a:latin typeface="Calibri"/>
              </a:rPr>
              <a:t>• Client Ingress &amp; Idempotency Key: </a:t>
            </a:r>
            <a:r>
              <a:rPr sz="1000" b="0" i="0">
                <a:solidFill>
                  <a:srgbClr val="282C34"/>
                </a:solidFill>
                <a:latin typeface="Calibri"/>
              </a:rPr>
              <a:t>Client initiates transfer with client-generated UUIDv4 in 'Idempotency-Key' header; Gateway validates JWT &amp; enforces Redis rate limiting.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1B365D"/>
                </a:solidFill>
                <a:latin typeface="Calibri"/>
              </a:rPr>
              <a:t>• Transfer Ingestion (CREATED): </a:t>
            </a:r>
            <a:r>
              <a:rPr sz="1000" b="0" i="0">
                <a:solidFill>
                  <a:srgbClr val="282C34"/>
                </a:solidFill>
                <a:latin typeface="Calibri"/>
              </a:rPr>
              <a:t>Transfer Service creates record in 'CREATED' state and returns HTTP 202 Accepted, initiating asynchronous processing.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1B365D"/>
                </a:solidFill>
                <a:latin typeface="Calibri"/>
              </a:rPr>
              <a:t>• Pessimistic Debit (SELECT FOR UPDATE): </a:t>
            </a:r>
            <a:r>
              <a:rPr sz="1000" b="0" i="0">
                <a:solidFill>
                  <a:srgbClr val="282C34"/>
                </a:solidFill>
                <a:latin typeface="Calibri"/>
              </a:rPr>
              <a:t>Account Service acquires exclusive row lock on source account, validates balance, decrements funds, and inserts immutable ledger entry.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1B365D"/>
                </a:solidFill>
                <a:latin typeface="Calibri"/>
              </a:rPr>
              <a:t>• Pessimistic Credit Execution: </a:t>
            </a:r>
            <a:r>
              <a:rPr sz="1000" b="0" i="0">
                <a:solidFill>
                  <a:srgbClr val="282C34"/>
                </a:solidFill>
                <a:latin typeface="Calibri"/>
              </a:rPr>
              <a:t>Account Service acquires row lock on destination account, increments balance, and logs corresponding credit ledger entry (Debit == Credit).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1B365D"/>
                </a:solidFill>
                <a:latin typeface="Calibri"/>
              </a:rPr>
              <a:t>• Atomic Outbox Staging: </a:t>
            </a:r>
            <a:r>
              <a:rPr sz="1000" b="0" i="0">
                <a:solidFill>
                  <a:srgbClr val="282C34"/>
                </a:solidFill>
                <a:latin typeface="Calibri"/>
              </a:rPr>
              <a:t>Transfer Service updates status to 'COMPLETED' and inserts domain event into 'outbox_events' within the exact same database transaction.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1B365D"/>
                </a:solidFill>
                <a:latin typeface="Calibri"/>
              </a:rPr>
              <a:t>• Decoupled Message Dispatch: </a:t>
            </a:r>
            <a:r>
              <a:rPr sz="1000" b="0" i="0">
                <a:solidFill>
                  <a:srgbClr val="282C34"/>
                </a:solidFill>
                <a:latin typeface="Calibri"/>
              </a:rPr>
              <a:t>Outbox worker polls unpublished events with SKIP LOCKED, publishes to RabbitMQ topic exchange, and background workers consume idempotently.</a:t>
            </a:r>
          </a:p>
        </p:txBody>
      </p:sp>
      <p:pic>
        <p:nvPicPr>
          <p:cNvPr id="6" name="Picture 5" descr="fig2_transfer_sequenc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37731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E6B9E"/>
                </a:solidFill>
                <a:latin typeface="Calibri"/>
              </a:rPr>
              <a:t>DISTRIBUTED SYSTEMS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365D"/>
                </a:solidFill>
                <a:latin typeface="Calibri"/>
              </a:rPr>
              <a:t>8. Fault Tolerance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2E6B9E"/>
          </a:solidFill>
          <a:ln>
            <a:solidFill>
              <a:srgbClr val="2E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1B365D"/>
                </a:solidFill>
                <a:latin typeface="Calibri"/>
              </a:rPr>
              <a:t>• Dual-Write Elimination: </a:t>
            </a:r>
            <a:r>
              <a:rPr sz="1050" b="0" i="0">
                <a:solidFill>
                  <a:srgbClr val="282C34"/>
                </a:solidFill>
                <a:latin typeface="Calibri"/>
              </a:rPr>
              <a:t>Transactional Outbox Pattern guarantees zero lost messages. Outbox table commits locally with state update; external broker crash never orphans transactions.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1B365D"/>
                </a:solidFill>
                <a:latin typeface="Calibri"/>
              </a:rPr>
              <a:t>• At-Least-Once Delivery &amp; Retries: </a:t>
            </a:r>
            <a:r>
              <a:rPr sz="1050" b="0" i="0">
                <a:solidFill>
                  <a:srgbClr val="282C34"/>
                </a:solidFill>
                <a:latin typeface="Calibri"/>
              </a:rPr>
              <a:t>RabbitMQ unacknowledged messages are automatically redelivered with exponential backoff and attempt limits (MAX_ATTEMPTS = 5).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1B365D"/>
                </a:solidFill>
                <a:latin typeface="Calibri"/>
              </a:rPr>
              <a:t>• Network Partition Resilience: </a:t>
            </a:r>
            <a:r>
              <a:rPr sz="1050" b="0" i="0">
                <a:solidFill>
                  <a:srgbClr val="282C34"/>
                </a:solidFill>
                <a:latin typeface="Calibri"/>
              </a:rPr>
              <a:t>Client network dropouts do not cause double-spending. Compound unique constraint UNIQUE (user_id, idempotency_key) guarantees safe retries.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1B365D"/>
                </a:solidFill>
                <a:latin typeface="Calibri"/>
              </a:rPr>
              <a:t>• Finite State Machine Safeguards: </a:t>
            </a:r>
            <a:r>
              <a:rPr sz="1050" b="0" i="0">
                <a:solidFill>
                  <a:srgbClr val="282C34"/>
                </a:solidFill>
                <a:latin typeface="Calibri"/>
              </a:rPr>
              <a:t>Strict forward-only state progression (CREATED -&gt; PROCESSING -&gt; DEBITED -&gt; CREDITED -&gt; COMPLETED). Illegal backwards transitions are physically blocked.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1B365D"/>
                </a:solidFill>
                <a:latin typeface="Calibri"/>
              </a:rPr>
              <a:t>• Chaos &amp; Fault Injection Hooks: </a:t>
            </a:r>
            <a:r>
              <a:rPr sz="1050" b="0" i="0">
                <a:solidFill>
                  <a:srgbClr val="282C34"/>
                </a:solidFill>
                <a:latin typeface="Calibri"/>
              </a:rPr>
              <a:t>Built-in environment flags (FAIL_ACCOUNT_SERVICE, FAIL_RABBITMQ, ARTIFICIAL_LATENCY_MS) validate system survival under simulated chaos.</a:t>
            </a:r>
          </a:p>
        </p:txBody>
      </p:sp>
      <p:pic>
        <p:nvPicPr>
          <p:cNvPr id="6" name="Picture 5" descr="fig4_transactional_out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32213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E6B9E"/>
                </a:solidFill>
                <a:latin typeface="Calibri"/>
              </a:rPr>
              <a:t>DISTRIBUTED SYSTEMS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365D"/>
                </a:solidFill>
                <a:latin typeface="Calibri"/>
              </a:rPr>
              <a:t>9. Performance Testing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2E6B9E"/>
          </a:solidFill>
          <a:ln>
            <a:solidFill>
              <a:srgbClr val="2E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1B365D"/>
                </a:solidFill>
                <a:latin typeface="Calibri"/>
              </a:rPr>
              <a:t>• High-Throughput k6 Benchmarking: </a:t>
            </a:r>
            <a:r>
              <a:rPr sz="1050" b="0" i="0">
                <a:solidFill>
                  <a:srgbClr val="282C34"/>
                </a:solidFill>
                <a:latin typeface="Calibri"/>
              </a:rPr>
              <a:t>Simulated 50 Virtual Users (VUs) executing sustained, concurrent fund transfer cycles over a 60-second execution window.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1B365D"/>
                </a:solidFill>
                <a:latin typeface="Calibri"/>
              </a:rPr>
              <a:t>• Mass Parallel Idempotency Burst: </a:t>
            </a:r>
            <a:r>
              <a:rPr sz="1050" b="0" i="0">
                <a:solidFill>
                  <a:srgbClr val="282C34"/>
                </a:solidFill>
                <a:latin typeface="Calibri"/>
              </a:rPr>
              <a:t>100 identical simultaneous HTTP POST transfer requests dispatched concurrently with the same idempotency key to test collision avoidance.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1B365D"/>
                </a:solidFill>
                <a:latin typeface="Calibri"/>
              </a:rPr>
              <a:t>• Concurrent Multi-Transfer Stress: </a:t>
            </a:r>
            <a:r>
              <a:rPr sz="1050" b="0" i="0">
                <a:solidFill>
                  <a:srgbClr val="282C34"/>
                </a:solidFill>
                <a:latin typeface="Calibri"/>
              </a:rPr>
              <a:t>10 concurrent transfer threads targeting the same source account simultaneously to test row-level serialization and conservation.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1B365D"/>
                </a:solidFill>
                <a:latin typeface="Calibri"/>
              </a:rPr>
              <a:t>• Sub-Second Unit Verification: </a:t>
            </a:r>
            <a:r>
              <a:rPr sz="1050" b="0" i="0">
                <a:solidFill>
                  <a:srgbClr val="282C34"/>
                </a:solidFill>
                <a:latin typeface="Calibri"/>
              </a:rPr>
              <a:t>17 automated invariant and state machine tests executed via Vitest (100% passing in 403ms).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1B365D"/>
                </a:solidFill>
                <a:latin typeface="Calibri"/>
              </a:rPr>
              <a:t>• Headless End-to-End Testing: </a:t>
            </a:r>
            <a:r>
              <a:rPr sz="1050" b="0" i="0">
                <a:solidFill>
                  <a:srgbClr val="282C34"/>
                </a:solidFill>
                <a:latin typeface="Calibri"/>
              </a:rPr>
              <a:t>Playwright automated user journey tests validating browser execution from login to statement generation.</a:t>
            </a:r>
          </a:p>
        </p:txBody>
      </p:sp>
      <p:pic>
        <p:nvPicPr>
          <p:cNvPr id="6" name="Picture 5" descr="fig5_performance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2146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E6B9E"/>
                </a:solidFill>
                <a:latin typeface="Calibri"/>
              </a:rPr>
              <a:t>DISTRIBUTED SYSTEMS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365D"/>
                </a:solidFill>
                <a:latin typeface="Calibri"/>
              </a:rPr>
              <a:t>10. Result and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2E6B9E"/>
          </a:solidFill>
          <a:ln>
            <a:solidFill>
              <a:srgbClr val="2E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282C34"/>
                </a:solidFill>
                <a:latin typeface="Calibri"/>
              </a:rPr>
              <a:t>Comprehensive testing confirmed that the distributed platform exceeds all industrial SLAs, maintaining 100% financial correctness, zero race-condition anomalies, and sub-100ms response times under full concurrency load.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37744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286000"/>
                <a:gridCol w="402336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Evaluation Metric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Design SLA Target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Measured System Value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Technical Assessment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82C34"/>
                          </a:solidFill>
                          <a:latin typeface="Calibri"/>
                        </a:rPr>
                        <a:t>Peak Throughput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82C34"/>
                          </a:solidFill>
                          <a:latin typeface="Calibri"/>
                        </a:rPr>
                        <a:t>&gt; 150 req/sec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82C34"/>
                          </a:solidFill>
                          <a:latin typeface="Calibri"/>
                        </a:rPr>
                        <a:t>218 req/sec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82C34"/>
                          </a:solidFill>
                          <a:latin typeface="Calibri"/>
                        </a:rPr>
                        <a:t>Exceeded design SLA target by +45%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82C34"/>
                          </a:solidFill>
                          <a:latin typeface="Calibri"/>
                        </a:rPr>
                        <a:t>Median Latency (p50)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82C34"/>
                          </a:solidFill>
                          <a:latin typeface="Calibri"/>
                        </a:rPr>
                        <a:t>&lt; 40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82C34"/>
                          </a:solidFill>
                          <a:latin typeface="Calibri"/>
                        </a:rPr>
                        <a:t>28.4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82C34"/>
                          </a:solidFill>
                          <a:latin typeface="Calibri"/>
                        </a:rPr>
                        <a:t>Optimal performance under Fastify + connection pooling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82C34"/>
                          </a:solidFill>
                          <a:latin typeface="Calibri"/>
                        </a:rPr>
                        <a:t>95th Percentile (p95)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82C34"/>
                          </a:solidFill>
                          <a:latin typeface="Calibri"/>
                        </a:rPr>
                        <a:t>&lt; 100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82C34"/>
                          </a:solidFill>
                          <a:latin typeface="Calibri"/>
                        </a:rPr>
                        <a:t>64.2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82C34"/>
                          </a:solidFill>
                          <a:latin typeface="Calibri"/>
                        </a:rPr>
                        <a:t>Predictable response time without queue bloat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82C34"/>
                          </a:solidFill>
                          <a:latin typeface="Calibri"/>
                        </a:rPr>
                        <a:t>99th Percentile (p99)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82C34"/>
                          </a:solidFill>
                          <a:latin typeface="Calibri"/>
                        </a:rPr>
                        <a:t>&lt; 200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82C34"/>
                          </a:solidFill>
                          <a:latin typeface="Calibri"/>
                        </a:rPr>
                        <a:t>112.8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82C34"/>
                          </a:solidFill>
                          <a:latin typeface="Calibri"/>
                        </a:rPr>
                        <a:t>Consistent tail latency even under row lock waits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82C34"/>
                          </a:solidFill>
                          <a:latin typeface="Calibri"/>
                        </a:rPr>
                        <a:t>HTTP Error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82C34"/>
                          </a:solidFill>
                          <a:latin typeface="Calibri"/>
                        </a:rPr>
                        <a:t>&lt; 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E7D32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82C34"/>
                          </a:solidFill>
                          <a:latin typeface="Calibri"/>
                        </a:rPr>
                        <a:t>Zero unhandled exceptions or 500 server crashes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82C34"/>
                          </a:solidFill>
                          <a:latin typeface="Calibri"/>
                        </a:rPr>
                        <a:t>Data Consistency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82C34"/>
                          </a:solidFill>
                          <a:latin typeface="Calibri"/>
                        </a:rPr>
                        <a:t>100% Strict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E7D32"/>
                          </a:solidFill>
                          <a:latin typeface="Calibri"/>
                        </a:rPr>
                        <a:t>100.00% Conserved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82C34"/>
                          </a:solidFill>
                          <a:latin typeface="Calibri"/>
                        </a:rPr>
                        <a:t>Zero balance leakage, exact double-entry parity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E6B9E"/>
                </a:solidFill>
                <a:latin typeface="Calibri"/>
              </a:rPr>
              <a:t>SUBTOPIC 11 - SYSTEM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365D"/>
                </a:solidFill>
                <a:latin typeface="Calibri"/>
              </a:rPr>
              <a:t>11. Demo and Screenshots: Authentication &amp;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2E6B9E"/>
          </a:solidFill>
          <a:ln>
            <a:solidFill>
              <a:srgbClr val="2E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3383280" cy="2114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436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i="0">
                <a:solidFill>
                  <a:srgbClr val="1B365D"/>
                </a:solidFill>
                <a:latin typeface="Calibri"/>
              </a:rPr>
              <a:t>Figure 11.1: Secure User Login (Stateless JWT + bcrypt)</a:t>
            </a:r>
          </a:p>
        </p:txBody>
      </p:sp>
      <p:pic>
        <p:nvPicPr>
          <p:cNvPr id="7" name="Picture 6" descr="screenshot_2_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463040"/>
            <a:ext cx="3383280" cy="2114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59436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i="0">
                <a:solidFill>
                  <a:srgbClr val="1B365D"/>
                </a:solidFill>
                <a:latin typeface="Calibri"/>
              </a:rPr>
              <a:t>Figure 11.2: Customer Registration &amp; Onboarding</a:t>
            </a:r>
          </a:p>
        </p:txBody>
      </p:sp>
      <p:pic>
        <p:nvPicPr>
          <p:cNvPr id="9" name="Picture 8" descr="screenshot_3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463040"/>
            <a:ext cx="3383280" cy="2114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59436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i="0">
                <a:solidFill>
                  <a:srgbClr val="1B365D"/>
                </a:solidFill>
                <a:latin typeface="Calibri"/>
              </a:rPr>
              <a:t>Figure 11.3: Real-Time Account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E6B9E"/>
                </a:solidFill>
                <a:latin typeface="Calibri"/>
              </a:rPr>
              <a:t>SUBTOPIC 11 - SYSTEM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365D"/>
                </a:solidFill>
                <a:latin typeface="Calibri"/>
              </a:rPr>
              <a:t>11. Demo and Screenshots: Fund Transfer &amp; Ledger Statements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2E6B9E"/>
          </a:solidFill>
          <a:ln>
            <a:solidFill>
              <a:srgbClr val="2E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4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436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1B365D"/>
                </a:solidFill>
                <a:latin typeface="Calibri"/>
              </a:rPr>
              <a:t>Figure 11.4: Fund Transfer Workbench with Ingress Idempotency UUID</a:t>
            </a:r>
          </a:p>
        </p:txBody>
      </p:sp>
      <p:pic>
        <p:nvPicPr>
          <p:cNvPr id="7" name="Picture 6" descr="screenshot_5_trans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3257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94360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1B365D"/>
                </a:solidFill>
                <a:latin typeface="Calibri"/>
              </a:rPr>
              <a:t>Figure 11.5: Immutable Double-Entry Ledger Statements &amp; Running Balances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E6B9E"/>
                </a:solidFill>
                <a:latin typeface="Calibri"/>
              </a:rPr>
              <a:t>DISTRIBUTED SYSTEMS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365D"/>
                </a:solidFill>
                <a:latin typeface="Calibri"/>
              </a:rPr>
              <a:t>12. Challenges Faced &amp; Engineering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2E6B9E"/>
          </a:solidFill>
          <a:ln>
            <a:solidFill>
              <a:srgbClr val="2E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1B365D"/>
                </a:solidFill>
                <a:latin typeface="Calibri"/>
              </a:rPr>
              <a:t>[1] The Dual-Write Inconsistency Dilemma: 
</a:t>
            </a:r>
            <a:r>
              <a:rPr sz="1050" b="0" i="0">
                <a:solidFill>
                  <a:srgbClr val="282C34"/>
                </a:solidFill>
                <a:latin typeface="Calibri"/>
              </a:rPr>
              <a:t>Updating PostgreSQL database state and publishing an AMQP message to RabbitMQ cannot execute atomically without distributed 2PC.
-&gt; SOLUTION: Implemented the Transactional Outbox Pattern. Events are staged inside the local relational transaction and published asynchronously via a background poller using SKIP LOCKED.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1B365D"/>
                </a:solidFill>
                <a:latin typeface="Calibri"/>
              </a:rPr>
              <a:t>[2] Double-Spending Under Concurrent Withdrawals: 
</a:t>
            </a:r>
            <a:r>
              <a:rPr sz="1050" b="0" i="0">
                <a:solidFill>
                  <a:srgbClr val="282C34"/>
                </a:solidFill>
                <a:latin typeface="Calibri"/>
              </a:rPr>
              <a:t>Multiple simultaneous debits under default Read Committed isolation cause concurrent read anomalies and overdrafts.
-&gt; SOLUTION: Enforced SELECT FOR UPDATE pessimistic row-level locking on account records prior to balance validation, serializing operations per account.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1B365D"/>
                </a:solidFill>
                <a:latin typeface="Calibri"/>
              </a:rPr>
              <a:t>[3] Compounding Floating-Point Truncation: 
</a:t>
            </a:r>
            <a:r>
              <a:rPr sz="1050" b="0" i="0">
                <a:solidFill>
                  <a:srgbClr val="282C34"/>
                </a:solidFill>
                <a:latin typeface="Calibri"/>
              </a:rPr>
              <a:t>Standard IEEE 754 binary floating-point numbers introduce fractional rounding drift in high-volume micro-transactions.
-&gt; SOLUTION: Enforced BigInt integer minor units (paise) across all services and database columns; strictly zero floating-point arithmetic.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1B365D"/>
                </a:solidFill>
                <a:latin typeface="Calibri"/>
              </a:rPr>
              <a:t>[4] Network Dropout Duplication &amp; Retries: 
</a:t>
            </a:r>
            <a:r>
              <a:rPr sz="1050" b="0" i="0">
                <a:solidFill>
                  <a:srgbClr val="282C34"/>
                </a:solidFill>
                <a:latin typeface="Calibri"/>
              </a:rPr>
              <a:t>Network packet drops after debit settlement induce client retries, risking duplicate payment execution.
-&gt; SOLUTION: Client-generated UUIDv4 Idempotency Keys enforced via database compound unique constraint UNIQUE (user_id, idempotency_key).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1B365D"/>
                </a:solidFill>
                <a:latin typeface="Calibri"/>
              </a:rPr>
              <a:t>[5] Monorepo Inter-Dependency Build Failures: 
</a:t>
            </a:r>
            <a:r>
              <a:rPr sz="1050" b="0" i="0">
                <a:solidFill>
                  <a:srgbClr val="282C34"/>
                </a:solidFill>
                <a:latin typeface="Calibri"/>
              </a:rPr>
              <a:t>Services failed compilation because dependent shared contracts were built after dependent applications in standard alphabetical order.
-&gt; SOLUTION: Engineered a sequenced build:packages lifecycle script in root package.json to compile contracts, errors, and logger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E6B9E"/>
                </a:solidFill>
                <a:latin typeface="Calibri"/>
              </a:rPr>
              <a:t>DISTRIBUTED SYSTEMS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365D"/>
                </a:solidFill>
                <a:latin typeface="Calibri"/>
              </a:rPr>
              <a:t>13. Conclusion &amp; Future Research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27432"/>
          </a:xfrm>
          <a:prstGeom prst="rect">
            <a:avLst/>
          </a:prstGeom>
          <a:solidFill>
            <a:srgbClr val="2E6B9E"/>
          </a:solidFill>
          <a:ln>
            <a:solidFill>
              <a:srgbClr val="2E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1" i="0">
                <a:solidFill>
                  <a:srgbClr val="1B365D"/>
                </a:solidFill>
                <a:latin typeface="Calibri"/>
              </a:rPr>
              <a:t>✔ Core Takeaway on Distributed Consistency: 
</a:t>
            </a:r>
            <a:r>
              <a:rPr sz="1100" b="0" i="0">
                <a:solidFill>
                  <a:srgbClr val="282C34"/>
                </a:solidFill>
                <a:latin typeface="Calibri"/>
              </a:rPr>
              <a:t>Mission-critical financial consistency and decoupled microservices architectures can thrive together without distributed 2PC bottlenecks. Combining local ACID boundaries with the Transactional Outbox Pattern delivers high availability and zero message loss.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1B365D"/>
                </a:solidFill>
                <a:latin typeface="Calibri"/>
              </a:rPr>
              <a:t>✔ Key Architectural Validations Achieved: 
</a:t>
            </a:r>
            <a:r>
              <a:rPr sz="1100" b="0" i="0">
                <a:solidFill>
                  <a:srgbClr val="282C34"/>
                </a:solidFill>
                <a:latin typeface="Calibri"/>
              </a:rPr>
              <a:t>• Strict double-entry ledger balance conservation verified under hostile multi-threaded concurrency testing.
• 100% duplicate rejection across 100 simultaneous burst requests with identical idempotency keys.
• High throughput of 218 transfers/sec with sub-65ms p95 latency under 50 virtual users.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1B365D"/>
                </a:solidFill>
                <a:latin typeface="Calibri"/>
              </a:rPr>
              <a:t>✔ Future Roadmap &amp; Architectural Enhancements: 
</a:t>
            </a:r>
            <a:r>
              <a:rPr sz="1100" b="0" i="0">
                <a:solidFill>
                  <a:srgbClr val="282C34"/>
                </a:solidFill>
                <a:latin typeface="Calibri"/>
              </a:rPr>
              <a:t>1. Distributed Sagas for Multi-Region DBs: Implementing orchestrated Saga state coordinators for cross-region database sharding.
2. OpenTelemetry &amp; Distributed Tracing: Migrating from custom header correlation IDs to OpenTelemetry trace collectors and Jaeger visualization.
3. Apache Kafka Event Streaming: Integrating partitioned event streams for multi-year analytical replay and regulatory compliance reporting.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